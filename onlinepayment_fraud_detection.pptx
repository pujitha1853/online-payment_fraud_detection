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9" r:id="rId14"/>
  </p:sldIdLst>
  <p:sldSz cx="12192000" cy="6858000"/>
  <p:notesSz cx="6858000" cy="9144000"/>
  <p:embeddedFontLst>
    <p:embeddedFont>
      <p:font typeface="Lato Black" panose="020F0502020204030203" pitchFamily="34" charset="0"/>
      <p:bold r:id="rId16"/>
      <p:boldItalic r:id="rId17"/>
    </p:embeddedFont>
    <p:embeddedFont>
      <p:font typeface="Libre Baskerville" panose="02000000000000000000" pitchFamily="2" charset="0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07770" y="2894875"/>
            <a:ext cx="8610601" cy="66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ONLINE PAYMENT_FRAUD_DETECTION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97870-3CF4-E01D-2F80-035AC0B6207F}"/>
              </a:ext>
            </a:extLst>
          </p:cNvPr>
          <p:cNvSpPr txBox="1"/>
          <p:nvPr/>
        </p:nvSpPr>
        <p:spPr>
          <a:xfrm>
            <a:off x="892630" y="5609492"/>
            <a:ext cx="2492828" cy="66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NAME: R.PUJITHA</a:t>
            </a:r>
          </a:p>
          <a:p>
            <a:r>
              <a:rPr lang="en-US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BATCH: 467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3F2680-F2C5-4B59-EBFD-500F5AE0C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270" y="429176"/>
            <a:ext cx="4759281" cy="80470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FA715-3513-7C7F-F555-F8CBCA271831}"/>
              </a:ext>
            </a:extLst>
          </p:cNvPr>
          <p:cNvSpPr txBox="1"/>
          <p:nvPr/>
        </p:nvSpPr>
        <p:spPr>
          <a:xfrm>
            <a:off x="1068636" y="1695102"/>
            <a:ext cx="80781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Introduction</a:t>
            </a:r>
          </a:p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Dataset Overview</a:t>
            </a:r>
          </a:p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Cleaning</a:t>
            </a:r>
          </a:p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Univariate Analysis</a:t>
            </a:r>
          </a:p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Bivariate Analysis</a:t>
            </a:r>
          </a:p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Multivariate Analysis</a:t>
            </a:r>
          </a:p>
          <a:p>
            <a:pPr marL="11430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Insights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263206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218248"/>
            <a:ext cx="609946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INTRODUCTION</a:t>
            </a:r>
            <a:endParaRPr lang="en-IN" sz="3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9AC2A-BC75-4970-F4E8-EEF6C9F88A31}"/>
              </a:ext>
            </a:extLst>
          </p:cNvPr>
          <p:cNvSpPr/>
          <p:nvPr/>
        </p:nvSpPr>
        <p:spPr>
          <a:xfrm>
            <a:off x="427656" y="1046602"/>
            <a:ext cx="11382425" cy="47813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payment systems have grown rapidly, increasing the risk of fraudulent transactions.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fraud detection is difficult due to large transaction volumes and complex patterns.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identifying fraudulent online payment transactions using data analysis.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 is used to understand transaction behavior and fraud patterns.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such as transaction type, amount, and balance changes are analyzed.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aims to support better fraud detection and improve online payment security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</a:rPr>
              <a:t>WHY THIS PROJECT  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5003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Online payments are increasing rapidly, leading to a higher risk of fraud.</a:t>
            </a:r>
          </a:p>
          <a:p>
            <a:r>
              <a:rPr lang="en-US" dirty="0"/>
              <a:t>Fraud causes financial losses and reduces trust in digital payment systems.</a:t>
            </a:r>
          </a:p>
          <a:p>
            <a:r>
              <a:rPr lang="en-US" dirty="0"/>
              <a:t>Manual fraud detection is difficult due to large transaction volumes.</a:t>
            </a:r>
          </a:p>
          <a:p>
            <a:r>
              <a:rPr lang="en-US" dirty="0"/>
              <a:t>Data analysis helps identify hidden fraud patterns efficiently.</a:t>
            </a:r>
          </a:p>
          <a:p>
            <a:r>
              <a:rPr lang="en-US" dirty="0"/>
              <a:t>This project helps improve fraud prevention and strengthen online payment security.</a:t>
            </a:r>
          </a:p>
          <a:p>
            <a:pPr marL="228600" lvl="0" indent="-130810"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5CEC-FED5-9D03-225C-4B04DB7C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20" y="-174698"/>
            <a:ext cx="6378767" cy="116622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UNDERSTANDING THE DATASET</a:t>
            </a:r>
            <a:endParaRPr lang="en-IN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1C4B97-E8F7-104D-9B79-AC4F97F343E7}"/>
              </a:ext>
            </a:extLst>
          </p:cNvPr>
          <p:cNvSpPr txBox="1"/>
          <p:nvPr/>
        </p:nvSpPr>
        <p:spPr>
          <a:xfrm>
            <a:off x="451692" y="782198"/>
            <a:ext cx="8695062" cy="16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 Type: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Financial Transaction / Fraud Detection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Records: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Large dataset (millions of transactions)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Features: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11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Types: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Numerical &amp; Categorical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F36C1-75BA-A2A9-1F52-BBF5C482D5BF}"/>
              </a:ext>
            </a:extLst>
          </p:cNvPr>
          <p:cNvSpPr txBox="1"/>
          <p:nvPr/>
        </p:nvSpPr>
        <p:spPr>
          <a:xfrm>
            <a:off x="451692" y="2236422"/>
            <a:ext cx="86069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step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Time of transaction (hour)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Transaction type (TRANSFER, CASH-OUT,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amount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Transaction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oldbalanceOrg / newbalanceOrig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Sender balance before &amp; after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oldbalanceDest / newbalanceDest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Receiver balance before &amp; after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isFraud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Fraud indicator (1 = Fraud, 0 = Not Fraud)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isFlaggedFraud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System-flagged fraud indicator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6DF6E-FC6E-C79C-8136-53AEDD798BCA}"/>
              </a:ext>
            </a:extLst>
          </p:cNvPr>
          <p:cNvSpPr txBox="1"/>
          <p:nvPr/>
        </p:nvSpPr>
        <p:spPr>
          <a:xfrm>
            <a:off x="451692" y="4682167"/>
            <a:ext cx="86950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Fraud cases are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few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(class imbalance)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Fraud mostly occurs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and CASH-OUT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Balance mismatches indicate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fraud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isFlaggedFraud misses many fraud cases</a:t>
            </a:r>
          </a:p>
        </p:txBody>
      </p:sp>
    </p:spTree>
    <p:extLst>
      <p:ext uri="{BB962C8B-B14F-4D97-AF65-F5344CB8AC3E}">
        <p14:creationId xmlns:p14="http://schemas.microsoft.com/office/powerpoint/2010/main" val="207089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CC1F60-85C5-2C6D-D433-8C1996B6E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9" y="345927"/>
            <a:ext cx="7793635" cy="1781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0FFD4E-CFD2-BAF7-3BCF-CF61B15E6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80" y="2456762"/>
            <a:ext cx="7200099" cy="33270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C1084A-FB6A-EDB0-1BDF-F6A8B890215A}"/>
              </a:ext>
            </a:extLst>
          </p:cNvPr>
          <p:cNvSpPr txBox="1"/>
          <p:nvPr/>
        </p:nvSpPr>
        <p:spPr>
          <a:xfrm>
            <a:off x="7458418" y="3277866"/>
            <a:ext cx="3371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about the dataset</a:t>
            </a:r>
          </a:p>
        </p:txBody>
      </p:sp>
    </p:spTree>
    <p:extLst>
      <p:ext uri="{BB962C8B-B14F-4D97-AF65-F5344CB8AC3E}">
        <p14:creationId xmlns:p14="http://schemas.microsoft.com/office/powerpoint/2010/main" val="274211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7980-2EE8-25C8-AECF-803E4EB9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57" y="242371"/>
            <a:ext cx="4439797" cy="123388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CLEANING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BBC37-B04A-B8A0-2B5D-5984EF2CD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1" y="1328444"/>
            <a:ext cx="2438740" cy="420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645D00-A265-38AF-CE8E-41B7C1A05BA5}"/>
              </a:ext>
            </a:extLst>
          </p:cNvPr>
          <p:cNvSpPr txBox="1"/>
          <p:nvPr/>
        </p:nvSpPr>
        <p:spPr>
          <a:xfrm>
            <a:off x="3323405" y="2644048"/>
            <a:ext cx="237231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Values Checking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4E6ED-244C-57C2-06A1-0760A0105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995" y="1399920"/>
            <a:ext cx="5115639" cy="11717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51B770-C9ED-5DCA-F23E-B0F7BEB36900}"/>
              </a:ext>
            </a:extLst>
          </p:cNvPr>
          <p:cNvSpPr txBox="1"/>
          <p:nvPr/>
        </p:nvSpPr>
        <p:spPr>
          <a:xfrm>
            <a:off x="6753339" y="2571659"/>
            <a:ext cx="402115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Checking the duplicate values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590FA8-AAB2-B965-F8D0-891ECFBE7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274" y="3655754"/>
            <a:ext cx="3342796" cy="1771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BFE95B-4B0D-9788-3DDC-EF14BBBDF97D}"/>
              </a:ext>
            </a:extLst>
          </p:cNvPr>
          <p:cNvSpPr txBox="1"/>
          <p:nvPr/>
        </p:nvSpPr>
        <p:spPr>
          <a:xfrm>
            <a:off x="4385727" y="4046018"/>
            <a:ext cx="430658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 the Null values</a:t>
            </a:r>
            <a:endParaRPr lang="en-US" sz="20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21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7838-81C4-F714-0320-64E4626A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2" y="242371"/>
            <a:ext cx="5497417" cy="113473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UNIVARIATE ANALYSIS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20E81C-174A-9D86-9BE5-FCAF0533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23" y="1200839"/>
            <a:ext cx="6136866" cy="46049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98445C-D0F8-160F-2A81-71F1B81E4E2D}"/>
              </a:ext>
            </a:extLst>
          </p:cNvPr>
          <p:cNvSpPr txBox="1"/>
          <p:nvPr/>
        </p:nvSpPr>
        <p:spPr>
          <a:xfrm>
            <a:off x="6720288" y="1421177"/>
            <a:ext cx="49869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transactions occur in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to mid range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step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lies closer to the lower side, showing more activity in earlier time steps.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distribution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right-skewed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outliers on the higher end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representing transactions at later time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is wide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transactions occurred over a long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abnormal values on the lower side, so early-step data is consistent.</a:t>
            </a:r>
          </a:p>
        </p:txBody>
      </p:sp>
    </p:spTree>
    <p:extLst>
      <p:ext uri="{BB962C8B-B14F-4D97-AF65-F5344CB8AC3E}">
        <p14:creationId xmlns:p14="http://schemas.microsoft.com/office/powerpoint/2010/main" val="161069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82CE32-31E5-3845-8822-B98FBB6A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78" y="419993"/>
            <a:ext cx="6503336" cy="4614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815A9-A66F-E396-B02A-5039F27F6A6E}"/>
              </a:ext>
            </a:extLst>
          </p:cNvPr>
          <p:cNvSpPr txBox="1"/>
          <p:nvPr/>
        </p:nvSpPr>
        <p:spPr>
          <a:xfrm>
            <a:off x="7271132" y="727113"/>
            <a:ext cx="4516916" cy="448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step values show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increasing trend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the index.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confirms that the data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time-ordered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transactions are recorded sequentially.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plot has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gradual increases with sudden jumps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transitions between different time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step values appear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towards the end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meaning later transactions are stored last.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downward trend is observed, showing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time inconsistency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76834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812F-0161-C1B9-8344-99C2AC78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36"/>
            <a:ext cx="10515600" cy="758598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BIVARIATE ANALYSIS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B89715-68A0-8102-8FB3-FD7F6455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15" y="771181"/>
            <a:ext cx="5737185" cy="369546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5487F61-D972-9F75-CE94-BBD804CDD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19" y="4536514"/>
            <a:ext cx="517792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transactions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amounts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transactions have large amounts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transactions leave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 balance near zero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clear relationship between amount and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present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BB317D-B6AD-60AD-5942-B18CF7DEF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354" y="1024572"/>
            <a:ext cx="5398265" cy="2968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74C867-425F-725E-B4A2-3CC8F52983FE}"/>
              </a:ext>
            </a:extLst>
          </p:cNvPr>
          <p:cNvSpPr txBox="1"/>
          <p:nvPr/>
        </p:nvSpPr>
        <p:spPr>
          <a:xfrm rot="10800000" flipV="1">
            <a:off x="6698251" y="4166837"/>
            <a:ext cx="52770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transactions have the highest amounts.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out transactions also involve large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amounts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transactions have medium amounts.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and payment transactions have very small amounts.</a:t>
            </a:r>
          </a:p>
        </p:txBody>
      </p:sp>
    </p:spTree>
    <p:extLst>
      <p:ext uri="{BB962C8B-B14F-4D97-AF65-F5344CB8AC3E}">
        <p14:creationId xmlns:p14="http://schemas.microsoft.com/office/powerpoint/2010/main" val="179287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416F4D-8313-BA73-9FF7-E4A2857598F1}"/>
              </a:ext>
            </a:extLst>
          </p:cNvPr>
          <p:cNvSpPr txBox="1"/>
          <p:nvPr/>
        </p:nvSpPr>
        <p:spPr>
          <a:xfrm>
            <a:off x="264406" y="176270"/>
            <a:ext cx="45499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A6823-176B-E349-26A8-4F0B53BF4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10" y="995616"/>
            <a:ext cx="5519450" cy="39619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D31476-38A2-CE2D-E721-DA7C8D31512C}"/>
              </a:ext>
            </a:extLst>
          </p:cNvPr>
          <p:cNvSpPr txBox="1"/>
          <p:nvPr/>
        </p:nvSpPr>
        <p:spPr>
          <a:xfrm>
            <a:off x="6354871" y="761044"/>
            <a:ext cx="50806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Amount and newbalanceDest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positive correlation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meaning higher amounts increase destination balance.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isFraud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positive relationship with amount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fraud tends to involve higher amounts.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very little correlation with other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newbalanceOrig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almost no correlation with fraud.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most features have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correlations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except amount-related balances.</a:t>
            </a:r>
          </a:p>
        </p:txBody>
      </p:sp>
    </p:spTree>
    <p:extLst>
      <p:ext uri="{BB962C8B-B14F-4D97-AF65-F5344CB8AC3E}">
        <p14:creationId xmlns:p14="http://schemas.microsoft.com/office/powerpoint/2010/main" val="2749850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309421-38C9-545A-6CFB-2F24F7E38FDD}"/>
              </a:ext>
            </a:extLst>
          </p:cNvPr>
          <p:cNvSpPr txBox="1"/>
          <p:nvPr/>
        </p:nvSpPr>
        <p:spPr>
          <a:xfrm>
            <a:off x="495759" y="429659"/>
            <a:ext cx="865099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transactions are very few compared to normal 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mostly happens in high-amount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and cash-out types are more risky.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is linked to specific transaction types and large amounts.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helps understand and detect fraud.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helps improve online payment safety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298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672</Words>
  <Application>Microsoft Office PowerPoint</Application>
  <PresentationFormat>Widescreen</PresentationFormat>
  <Paragraphs>86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Arial</vt:lpstr>
      <vt:lpstr>Times New Roman</vt:lpstr>
      <vt:lpstr>Lato Black</vt:lpstr>
      <vt:lpstr>Libre Baskerville</vt:lpstr>
      <vt:lpstr>Office Theme</vt:lpstr>
      <vt:lpstr>PowerPoint Presentation</vt:lpstr>
      <vt:lpstr>PowerPoint Presentation</vt:lpstr>
      <vt:lpstr>PowerPoint Presentation</vt:lpstr>
      <vt:lpstr>WHY THIS PROJECT  </vt:lpstr>
      <vt:lpstr>UNDERSTANDING THE DATASET</vt:lpstr>
      <vt:lpstr>PowerPoint Presentation</vt:lpstr>
      <vt:lpstr>DATA CLEANING</vt:lpstr>
      <vt:lpstr>UNIVARIATE ANALYSIS</vt:lpstr>
      <vt:lpstr>PowerPoint Presentation</vt:lpstr>
      <vt:lpstr>BIVARIATE ANALYSIS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pujitha rayapati</cp:lastModifiedBy>
  <cp:revision>3</cp:revision>
  <dcterms:created xsi:type="dcterms:W3CDTF">2021-02-16T05:19:01Z</dcterms:created>
  <dcterms:modified xsi:type="dcterms:W3CDTF">2026-03-05T11:41:58Z</dcterms:modified>
</cp:coreProperties>
</file>